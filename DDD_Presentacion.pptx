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2E675-7021-4F26-B860-F5A6F1486E60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B6C61-10A8-43F1-922B-773DAD8B24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310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B6C61-10A8-43F1-922B-773DAD8B247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1764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B6C61-10A8-43F1-922B-773DAD8B2471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4128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B6C61-10A8-43F1-922B-773DAD8B247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952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E005A-A0AB-066C-1CD5-60CD2A4F2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517DA9-657E-6A06-4CC2-A319043F3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184D46-5700-F936-9F5F-CBD1ECAD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60C64A-FDD7-3A0B-9EB1-AE1A36C5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D1CC15-1061-140C-28AB-32E425A2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673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B248B-5821-7792-52F4-FE38CDE8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CF5FE-9CE5-C8C5-9DB5-ADCCEB8E1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C4E12-A001-DFDC-55DF-F799FEC6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A60694-4558-0DA4-C077-6844E771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64581A-5005-516E-AA09-0EBB451B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55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0183D-7813-AEA6-DC4B-0D0FDDAA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F38D8C-62B3-8BA6-4FAD-5292F0795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2AD29F-EBE3-E89C-ECC4-95A14C96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14BF73-216F-EDFB-D0B9-F7E5CBF5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A415-6CAC-337F-B276-D76B343E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93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B5359-0496-7620-1EC6-89EF4234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75696A-AC6D-EC57-CB05-140E5B74A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F3118E-3B23-E4CC-AB88-E8569B8EB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D03F89-72B4-235E-92DE-A2DD1CF7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9AEE11-292B-5258-3BD8-E579CC9D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16452B-72C3-4FF7-485E-1D8F7403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166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464A0-2C47-0928-DB08-7D60D9AF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363BA1-12DD-BC79-CEA0-B7CC28BC8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28E4D1-BE0E-CE13-8C41-F6ADAC566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6912C6-E11F-96C9-1087-0A0D39834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907FDC6-E73C-E071-30E5-4177F9D1D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C53390-95C5-010F-CE12-BD025FBC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C865D7-D542-4A11-4191-B6107597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21F2C6-07C0-78DF-177B-1EB092B4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37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CDB36-46BF-16B1-D96B-9C519C9E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326FD1-D6E7-395E-7624-1FE3F04B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956912-D27F-E95D-ADBF-44FAB0BC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62721F-0458-AFCF-831E-CB68C0EC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80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307C40-FBD6-ACFB-9532-F2354C2F2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A5F840-2FB9-6171-2754-C441FB6A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5A53E3-506D-A958-9782-2898066D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466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53480-5051-AA85-6803-CACCC8E2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72D63D-2D49-3CD5-8AB3-5F94EF39B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CD325B-F083-0913-CEB1-FE78A1AAA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BAA249-1D0B-E72E-DE1D-69DCA9B1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CDFCB6-D932-5D57-2D3A-7512C230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985059-83F5-7643-EF90-F3F8703A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658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7302E-375F-AEF1-E7DB-94C0BF46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E6D0C9-18CE-95FA-8DEA-102679D69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8FB0C5-DF51-8CEE-42E5-1E6BC5FE1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BE2C67-E79C-CBC3-D916-CDD96830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2B7133-BB02-9CEF-05F5-FCF16E3D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CBCF6-2C74-F87D-BF28-EFE1168D4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79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8D8C8-5297-22E8-F5FF-A0B50A80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055561-9DEF-C796-F32F-D325992BB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DACC03-35B3-6D00-850C-A873991C5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16C9FD-B8BB-95F2-283B-D2978D09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A1937F-CD56-BA10-58D4-0913BF3B1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045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ED75FA-5B6F-5FC6-D428-C7EB746DE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23F779-D4E0-89AD-4A86-DD32CC1D1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7E7CBF-6D27-F949-8C6F-77773C4B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7F773-E24B-CAD6-DF8E-4B03F1DB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703E88-4E70-D25B-557C-C0B9A34E4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634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86F26E-E4F8-ADE6-7EFA-54935A5F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6CE286-8F64-B771-8DBA-313AE6F42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4D1AC1-46FF-899D-7F6D-F9B8F1980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F5CB6-7A71-4D37-B568-AF7E20826781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E9B7AC-FA0A-40D3-03F8-39F0DB001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0CEB65-31B4-1B39-27AA-16E938EC0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AE980-8556-4DF1-AAC8-18B41BC51A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529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rtinfowler.com/bliki/ValueObject.html" TargetMode="External"/><Relationship Id="rId7" Type="http://schemas.openxmlformats.org/officeDocument/2006/relationships/hyperlink" Target="https://enterprisecraftsmanship.com/posts/domain-vs-application-service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ef/core/modeling/owned-entities" TargetMode="External"/><Relationship Id="rId5" Type="http://schemas.openxmlformats.org/officeDocument/2006/relationships/hyperlink" Target="https://aka.ms/microservicesebook" TargetMode="External"/><Relationship Id="rId4" Type="http://schemas.openxmlformats.org/officeDocument/2006/relationships/hyperlink" Target="https://martinfowler.com/bliki/DDD_Aggregat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D33A9F3-9B0E-EC50-593C-6C249B38D99C}"/>
              </a:ext>
            </a:extLst>
          </p:cNvPr>
          <p:cNvSpPr/>
          <p:nvPr/>
        </p:nvSpPr>
        <p:spPr>
          <a:xfrm>
            <a:off x="0" y="2540000"/>
            <a:ext cx="12192000" cy="1016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3B8BEC-AD3B-4141-14C2-23883C61805B}"/>
              </a:ext>
            </a:extLst>
          </p:cNvPr>
          <p:cNvSpPr txBox="1"/>
          <p:nvPr/>
        </p:nvSpPr>
        <p:spPr>
          <a:xfrm>
            <a:off x="762000" y="1524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ES" sz="3600" b="1" noProof="0" dirty="0">
                <a:solidFill>
                  <a:srgbClr val="FFFFFF"/>
                </a:solidFill>
              </a:rPr>
              <a:t>Diseño Orientado al Dominio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0DDEFD-D3AF-2593-968E-195063D57159}"/>
              </a:ext>
            </a:extLst>
          </p:cNvPr>
          <p:cNvSpPr txBox="1"/>
          <p:nvPr/>
        </p:nvSpPr>
        <p:spPr>
          <a:xfrm>
            <a:off x="762000" y="266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ES" sz="2400" noProof="0" dirty="0">
                <a:solidFill>
                  <a:srgbClr val="2563EB"/>
                </a:solidFill>
              </a:rPr>
              <a:t>Domain-</a:t>
            </a:r>
            <a:r>
              <a:rPr lang="es-ES" sz="2400" noProof="0" dirty="0" err="1">
                <a:solidFill>
                  <a:srgbClr val="2563EB"/>
                </a:solidFill>
              </a:rPr>
              <a:t>Driven</a:t>
            </a:r>
            <a:r>
              <a:rPr lang="es-ES" sz="2400" noProof="0" dirty="0">
                <a:solidFill>
                  <a:srgbClr val="2563EB"/>
                </a:solidFill>
              </a:rPr>
              <a:t> </a:t>
            </a:r>
            <a:r>
              <a:rPr lang="es-ES" sz="2400" noProof="0" dirty="0" err="1">
                <a:solidFill>
                  <a:srgbClr val="2563EB"/>
                </a:solidFill>
              </a:rPr>
              <a:t>Design</a:t>
            </a:r>
            <a:r>
              <a:rPr lang="es-ES" sz="2400" noProof="0" dirty="0">
                <a:solidFill>
                  <a:srgbClr val="2563EB"/>
                </a:solidFill>
              </a:rPr>
              <a:t> (DDD)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98EDA68-7536-E5F8-01F0-EBB16BE15769}"/>
              </a:ext>
            </a:extLst>
          </p:cNvPr>
          <p:cNvSpPr txBox="1"/>
          <p:nvPr/>
        </p:nvSpPr>
        <p:spPr>
          <a:xfrm>
            <a:off x="762000" y="381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ES" sz="1600" noProof="0" dirty="0">
                <a:solidFill>
                  <a:srgbClr val="6B7280"/>
                </a:solidFill>
              </a:rPr>
              <a:t>Guía practica para diseñar software centrado en el negocio</a:t>
            </a:r>
          </a:p>
        </p:txBody>
      </p:sp>
    </p:spTree>
    <p:extLst>
      <p:ext uri="{BB962C8B-B14F-4D97-AF65-F5344CB8AC3E}">
        <p14:creationId xmlns:p14="http://schemas.microsoft.com/office/powerpoint/2010/main" val="118478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87476BC-639E-BDCB-FA49-30C4ADFF5106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Lenguaje Ubicuo (</a:t>
            </a:r>
            <a:r>
              <a:rPr lang="es-ES" sz="3000" b="1" noProof="0" dirty="0" err="1">
                <a:solidFill>
                  <a:srgbClr val="172554"/>
                </a:solidFill>
              </a:rPr>
              <a:t>Ubiquitous</a:t>
            </a:r>
            <a:r>
              <a:rPr lang="es-ES" sz="3000" b="1" noProof="0" dirty="0">
                <a:solidFill>
                  <a:srgbClr val="172554"/>
                </a:solidFill>
              </a:rPr>
              <a:t> </a:t>
            </a:r>
            <a:r>
              <a:rPr lang="es-ES" sz="3000" b="1" noProof="0" dirty="0" err="1">
                <a:solidFill>
                  <a:srgbClr val="172554"/>
                </a:solidFill>
              </a:rPr>
              <a:t>Language</a:t>
            </a:r>
            <a:r>
              <a:rPr lang="es-ES" sz="3000" b="1" noProof="0" dirty="0">
                <a:solidFill>
                  <a:srgbClr val="172554"/>
                </a:solidFill>
              </a:rPr>
              <a:t>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6DECCA-0091-69CC-28EF-B7D3A7FD1169}"/>
              </a:ext>
            </a:extLst>
          </p:cNvPr>
          <p:cNvSpPr/>
          <p:nvPr/>
        </p:nvSpPr>
        <p:spPr>
          <a:xfrm>
            <a:off x="762000" y="1016000"/>
            <a:ext cx="6982968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5DFD39-97B3-306B-06C9-067281C27DB4}"/>
              </a:ext>
            </a:extLst>
          </p:cNvPr>
          <p:cNvSpPr txBox="1"/>
          <p:nvPr/>
        </p:nvSpPr>
        <p:spPr>
          <a:xfrm>
            <a:off x="1344168" y="1270000"/>
            <a:ext cx="756208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noProof="0" dirty="0">
                <a:solidFill>
                  <a:srgbClr val="374151"/>
                </a:solidFill>
              </a:rPr>
              <a:t>Lenguaje compartido, consistente y unificado que utilizan tanto los desarrolladores como los expertos en el dominio de negocio.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3F94CB-56AC-2791-0990-016811E24DAD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Comunicación Común: Todos los involucrados usan la misma terminología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Basado en el Modelo: Se basa en el modelo de dominio creado por el equipo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Ubicuidad en el Diseño: Se refleja en clases, métodos, variables y test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Cohesión de Equipo: Reduce la brecha entre negocio y software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BC5F57DF-0ECC-87CB-BFC2-C9ABC291A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70000"/>
            <a:ext cx="502920" cy="50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69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256701-DE0C-F8F1-AD17-BFCADD3D58E9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¿Qué es Domain-</a:t>
            </a:r>
            <a:r>
              <a:rPr lang="es-ES" sz="3000" b="1" noProof="0" dirty="0" err="1">
                <a:solidFill>
                  <a:srgbClr val="172554"/>
                </a:solidFill>
              </a:rPr>
              <a:t>Driven</a:t>
            </a:r>
            <a:r>
              <a:rPr lang="es-ES" sz="3000" b="1" noProof="0" dirty="0">
                <a:solidFill>
                  <a:srgbClr val="172554"/>
                </a:solidFill>
              </a:rPr>
              <a:t> </a:t>
            </a:r>
            <a:r>
              <a:rPr lang="es-ES" sz="3000" b="1" noProof="0" dirty="0" err="1">
                <a:solidFill>
                  <a:srgbClr val="172554"/>
                </a:solidFill>
              </a:rPr>
              <a:t>Design</a:t>
            </a:r>
            <a:r>
              <a:rPr lang="es-ES" sz="3000" b="1" noProof="0" dirty="0">
                <a:solidFill>
                  <a:srgbClr val="172554"/>
                </a:solidFill>
              </a:rPr>
              <a:t>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FD392DE-2CEC-E89D-42B5-B1F76C2F544C}"/>
              </a:ext>
            </a:extLst>
          </p:cNvPr>
          <p:cNvSpPr/>
          <p:nvPr/>
        </p:nvSpPr>
        <p:spPr>
          <a:xfrm>
            <a:off x="762000" y="1016000"/>
            <a:ext cx="5711952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3D9422-DA88-61F4-49C2-E83ECA87D953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noProof="0" dirty="0">
                <a:solidFill>
                  <a:srgbClr val="374151"/>
                </a:solidFill>
              </a:rPr>
              <a:t>Enfoque de desarrollo de software complejo que centra el diseño en el modelo de negocio, su lógica y reglas. Su objetivo es crear sistemas escalables, mantenibles y desacoplados.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FF2390-A97F-7B8F-8BBC-8EC8E27A3477}"/>
              </a:ext>
            </a:extLst>
          </p:cNvPr>
          <p:cNvSpPr txBox="1"/>
          <p:nvPr/>
        </p:nvSpPr>
        <p:spPr>
          <a:xfrm>
            <a:off x="762000" y="2476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Beneficios clave: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AE1663-BBBC-48FD-FF99-B595FF94E1B0}"/>
              </a:ext>
            </a:extLst>
          </p:cNvPr>
          <p:cNvSpPr txBox="1"/>
          <p:nvPr/>
        </p:nvSpPr>
        <p:spPr>
          <a:xfrm>
            <a:off x="762000" y="292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Alta Mantenibilidad: Separación estricta de responsabilidades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Alineación con el Negocio: Mejora la comunicación y reduce malentendidos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Adaptabilidad: Facilita la evolución del sistema ante cambios de requerimientos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Utiliza un lenguaje ubicuo compartido entre técnicos y expertos del negocio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E73761-6A12-EDEC-96C9-DC253D9FF201}"/>
              </a:ext>
            </a:extLst>
          </p:cNvPr>
          <p:cNvSpPr txBox="1"/>
          <p:nvPr/>
        </p:nvSpPr>
        <p:spPr>
          <a:xfrm>
            <a:off x="762000" y="546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 b="1" noProof="0" dirty="0">
                <a:solidFill>
                  <a:srgbClr val="2563EB"/>
                </a:solidFill>
              </a:rPr>
              <a:t>DDD es especialmente útil en sistemas con complejidad de negocio elevada.</a:t>
            </a:r>
          </a:p>
        </p:txBody>
      </p:sp>
    </p:spTree>
    <p:extLst>
      <p:ext uri="{BB962C8B-B14F-4D97-AF65-F5344CB8AC3E}">
        <p14:creationId xmlns:p14="http://schemas.microsoft.com/office/powerpoint/2010/main" val="360424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613C42-A53C-6726-D3CB-AD4747044055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¿Cuándo usar y cuándo evitar DDD?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FC175D-6125-31BF-090E-A88F65359AC8}"/>
              </a:ext>
            </a:extLst>
          </p:cNvPr>
          <p:cNvSpPr/>
          <p:nvPr/>
        </p:nvSpPr>
        <p:spPr>
          <a:xfrm flipV="1">
            <a:off x="762000" y="950976"/>
            <a:ext cx="9506712" cy="65024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24D1FC-D5C2-5911-B145-B8CB896534A3}"/>
              </a:ext>
            </a:extLst>
          </p:cNvPr>
          <p:cNvSpPr txBox="1"/>
          <p:nvPr/>
        </p:nvSpPr>
        <p:spPr>
          <a:xfrm>
            <a:off x="762000" y="1206500"/>
            <a:ext cx="533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6A34A"/>
                </a:solidFill>
              </a:rPr>
              <a:t>Cuando usar DDD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B2AF5B-1190-2B4D-35F7-3756FE811184}"/>
              </a:ext>
            </a:extLst>
          </p:cNvPr>
          <p:cNvSpPr txBox="1"/>
          <p:nvPr/>
        </p:nvSpPr>
        <p:spPr>
          <a:xfrm>
            <a:off x="762000" y="1651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Complejidad de negocio elevada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Reglas de negocio cambiantes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Equipos multidisciplinarios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Sistemas a largo plazo que crecerán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C169D0-F631-0FAF-164E-282AFF144117}"/>
              </a:ext>
            </a:extLst>
          </p:cNvPr>
          <p:cNvSpPr txBox="1"/>
          <p:nvPr/>
        </p:nvSpPr>
        <p:spPr>
          <a:xfrm>
            <a:off x="6350000" y="1206500"/>
            <a:ext cx="533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DC2626"/>
                </a:solidFill>
              </a:rPr>
              <a:t>Cuando evitar DDD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2FE9F3-3D0E-2BCE-1B4F-79EB1BE1A23B}"/>
              </a:ext>
            </a:extLst>
          </p:cNvPr>
          <p:cNvSpPr txBox="1"/>
          <p:nvPr/>
        </p:nvSpPr>
        <p:spPr>
          <a:xfrm>
            <a:off x="6350000" y="1651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CRUD básico sin reglas complejas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Prototipos y </a:t>
            </a:r>
            <a:r>
              <a:rPr lang="es-ES" sz="1400" noProof="0" dirty="0" err="1">
                <a:solidFill>
                  <a:srgbClr val="374151"/>
                </a:solidFill>
              </a:rPr>
              <a:t>MVPs</a:t>
            </a:r>
            <a:r>
              <a:rPr lang="es-ES" sz="1400" noProof="0" dirty="0">
                <a:solidFill>
                  <a:srgbClr val="374151"/>
                </a:solidFill>
              </a:rPr>
              <a:t> (Productos Mínimos Viables)rápidos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Proyectos pequeños o de corta duración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Falta de expertos en el dominio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Proyectos técnicos sin lógica de negocio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2E7CC6-E167-2802-C338-70017EECE7CB}"/>
              </a:ext>
            </a:extLst>
          </p:cNvPr>
          <p:cNvSpPr txBox="1"/>
          <p:nvPr/>
        </p:nvSpPr>
        <p:spPr>
          <a:xfrm>
            <a:off x="762000" y="4064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 b="1" noProof="0" dirty="0">
                <a:solidFill>
                  <a:srgbClr val="2563EB"/>
                </a:solidFill>
              </a:rPr>
              <a:t>Regla: Use DDD cuando el problema sea la complejidad de la lógica de negocio. Si es sencilla, adopte MVC, capas clásica o CRUD tradicional.</a:t>
            </a:r>
          </a:p>
        </p:txBody>
      </p:sp>
    </p:spTree>
    <p:extLst>
      <p:ext uri="{BB962C8B-B14F-4D97-AF65-F5344CB8AC3E}">
        <p14:creationId xmlns:p14="http://schemas.microsoft.com/office/powerpoint/2010/main" val="4079334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4D8557-2C2B-BED8-DC2F-D4F260051E65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Estructura y Arquitectura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B0ACE43-7BB2-6A96-0188-B61C86A56C6C}"/>
              </a:ext>
            </a:extLst>
          </p:cNvPr>
          <p:cNvSpPr/>
          <p:nvPr/>
        </p:nvSpPr>
        <p:spPr>
          <a:xfrm flipV="1">
            <a:off x="762000" y="970281"/>
            <a:ext cx="4468368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0477B-C0C9-9BE5-809E-F77A8C60A384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noProof="0" dirty="0">
                <a:solidFill>
                  <a:srgbClr val="374151"/>
                </a:solidFill>
              </a:rPr>
              <a:t>DDD se implementa con arquitecturas en capas para aislar la lógica de negocio de los detalles técnicos.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09B8CD3-7767-6306-3EC3-DA95330DF642}"/>
              </a:ext>
            </a:extLst>
          </p:cNvPr>
          <p:cNvSpPr/>
          <p:nvPr/>
        </p:nvSpPr>
        <p:spPr>
          <a:xfrm>
            <a:off x="762001" y="1893332"/>
            <a:ext cx="3902840" cy="762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noProof="0" dirty="0">
                <a:solidFill>
                  <a:schemeClr val="tx1"/>
                </a:solidFill>
              </a:rPr>
              <a:t>Dominio: Núcleo de la aplicación, reglas de negocio, eventos y entidades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C5F2C23-8EC2-B0EC-9688-A2BA4C0543DD}"/>
              </a:ext>
            </a:extLst>
          </p:cNvPr>
          <p:cNvSpPr/>
          <p:nvPr/>
        </p:nvSpPr>
        <p:spPr>
          <a:xfrm>
            <a:off x="762000" y="2939252"/>
            <a:ext cx="3902840" cy="76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noProof="0" dirty="0">
                <a:solidFill>
                  <a:schemeClr val="tx1"/>
                </a:solidFill>
              </a:rPr>
              <a:t>Aplicación: Orquesta la lógica y flujos de trabajo, coordina casos de uso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291701-3332-D235-E0B4-A6CAC1F1296A}"/>
              </a:ext>
            </a:extLst>
          </p:cNvPr>
          <p:cNvSpPr/>
          <p:nvPr/>
        </p:nvSpPr>
        <p:spPr>
          <a:xfrm>
            <a:off x="762000" y="3937000"/>
            <a:ext cx="3902840" cy="76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noProof="0" dirty="0">
                <a:solidFill>
                  <a:schemeClr val="tx1"/>
                </a:solidFill>
              </a:rPr>
              <a:t>Infraestructura: Persistencia, mensajería y servicios externos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ECA412-DA94-A41D-D4D1-06D9B38DF844}"/>
              </a:ext>
            </a:extLst>
          </p:cNvPr>
          <p:cNvSpPr txBox="1"/>
          <p:nvPr/>
        </p:nvSpPr>
        <p:spPr>
          <a:xfrm>
            <a:off x="762000" y="508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500" b="1" noProof="0" dirty="0">
                <a:solidFill>
                  <a:srgbClr val="EA580C"/>
                </a:solidFill>
              </a:rPr>
              <a:t>Se observan las dependencias entre las capas, pero el Dominio no depende de nada.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8D21FAA-85C7-FD3E-1F4D-7AE789A29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69" y="1658383"/>
            <a:ext cx="4050031" cy="323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5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41B35AD-4F67-138E-82E8-A29ADE3D7AE9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Entidades del Dominio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1FFAFA0-0215-3496-1EFF-F02E0E706A87}"/>
              </a:ext>
            </a:extLst>
          </p:cNvPr>
          <p:cNvSpPr/>
          <p:nvPr/>
        </p:nvSpPr>
        <p:spPr>
          <a:xfrm flipV="1">
            <a:off x="762000" y="969264"/>
            <a:ext cx="4038600" cy="46736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A013EE-C4F9-B908-3360-6E3249B58907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noProof="0" dirty="0">
                <a:solidFill>
                  <a:srgbClr val="374151"/>
                </a:solidFill>
              </a:rPr>
              <a:t>Objetos con identidad única que persisten en el tiempo, aunque sus atributos cambien. Representan conceptos del dominio con ciclo de vida.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1E515C-E783-81D9-1018-33106B6A0C95}"/>
              </a:ext>
            </a:extLst>
          </p:cNvPr>
          <p:cNvSpPr txBox="1"/>
          <p:nvPr/>
        </p:nvSpPr>
        <p:spPr>
          <a:xfrm>
            <a:off x="762000" y="228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Características: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36D8D7-4B2F-6F73-DE93-74EC56DA6ED1}"/>
              </a:ext>
            </a:extLst>
          </p:cNvPr>
          <p:cNvSpPr txBox="1"/>
          <p:nvPr/>
        </p:nvSpPr>
        <p:spPr>
          <a:xfrm>
            <a:off x="762000" y="2730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Tienen identidad única que persiste independientemente de cambios en atributos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Encapsulan comportamiento del dominio, ejemplo:  Producto métodos; </a:t>
            </a:r>
            <a:r>
              <a:rPr lang="es-ES" sz="1500" noProof="0" dirty="0" err="1">
                <a:solidFill>
                  <a:srgbClr val="374151"/>
                </a:solidFill>
              </a:rPr>
              <a:t>ReducirStock</a:t>
            </a:r>
            <a:r>
              <a:rPr lang="es-ES" sz="1500" noProof="0" dirty="0">
                <a:solidFill>
                  <a:srgbClr val="374151"/>
                </a:solidFill>
              </a:rPr>
              <a:t>, </a:t>
            </a:r>
            <a:r>
              <a:rPr lang="es-ES" sz="1500" noProof="0" dirty="0" err="1">
                <a:solidFill>
                  <a:srgbClr val="374151"/>
                </a:solidFill>
              </a:rPr>
              <a:t>ReponerStock</a:t>
            </a:r>
            <a:r>
              <a:rPr lang="es-ES" sz="1500" noProof="0" dirty="0">
                <a:solidFill>
                  <a:srgbClr val="374151"/>
                </a:solidFill>
              </a:rPr>
              <a:t>, Desactivar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Tienen ciclo de vida propio y se persisten de forma independiente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95C7976-37CB-9C81-E39D-FC0CCA84DCD0}"/>
              </a:ext>
            </a:extLst>
          </p:cNvPr>
          <p:cNvSpPr txBox="1"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Ejemplo: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716A91-54C6-D7DA-4A79-8001FB2D9074}"/>
              </a:ext>
            </a:extLst>
          </p:cNvPr>
          <p:cNvSpPr txBox="1"/>
          <p:nvPr/>
        </p:nvSpPr>
        <p:spPr>
          <a:xfrm>
            <a:off x="871728" y="5084826"/>
            <a:ext cx="10668000" cy="78994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500" noProof="0" dirty="0">
                <a:solidFill>
                  <a:srgbClr val="6B7280"/>
                </a:solidFill>
              </a:rPr>
              <a:t>En el comercio electrónico, un Producto es una entidad con ID único; puede cambiar su estado, pero sigue siendo el mismo Producto.</a:t>
            </a:r>
          </a:p>
        </p:txBody>
      </p:sp>
    </p:spTree>
    <p:extLst>
      <p:ext uri="{BB962C8B-B14F-4D97-AF65-F5344CB8AC3E}">
        <p14:creationId xmlns:p14="http://schemas.microsoft.com/office/powerpoint/2010/main" val="325770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1FDBDE6-81A7-2510-12C3-4696CF991324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 err="1">
                <a:solidFill>
                  <a:srgbClr val="172554"/>
                </a:solidFill>
              </a:rPr>
              <a:t>Value</a:t>
            </a:r>
            <a:r>
              <a:rPr lang="es-ES" sz="3000" b="1" noProof="0" dirty="0">
                <a:solidFill>
                  <a:srgbClr val="172554"/>
                </a:solidFill>
              </a:rPr>
              <a:t> </a:t>
            </a:r>
            <a:r>
              <a:rPr lang="es-ES" sz="3000" b="1" noProof="0" dirty="0" err="1">
                <a:solidFill>
                  <a:srgbClr val="172554"/>
                </a:solidFill>
              </a:rPr>
              <a:t>Objects</a:t>
            </a:r>
            <a:endParaRPr lang="es-ES" sz="3000" b="1" noProof="0" dirty="0">
              <a:solidFill>
                <a:srgbClr val="172554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E4636A-4D17-28AB-FA9A-B99C802C33AB}"/>
              </a:ext>
            </a:extLst>
          </p:cNvPr>
          <p:cNvSpPr/>
          <p:nvPr/>
        </p:nvSpPr>
        <p:spPr>
          <a:xfrm>
            <a:off x="762000" y="1016000"/>
            <a:ext cx="2712720" cy="53478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703190-6413-DD30-75A2-8181EB6F0788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noProof="0" dirty="0">
                <a:solidFill>
                  <a:srgbClr val="374151"/>
                </a:solidFill>
              </a:rPr>
              <a:t>Objetos que se definen solo por su contenido, no por un ID único.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5AB4FA-CF5A-7913-ACFC-7AF24AEC138B}"/>
              </a:ext>
            </a:extLst>
          </p:cNvPr>
          <p:cNvSpPr txBox="1"/>
          <p:nvPr/>
        </p:nvSpPr>
        <p:spPr>
          <a:xfrm>
            <a:off x="762000" y="2095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Características: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138756-336E-A24F-2DA8-5F8B3B3D59F5}"/>
              </a:ext>
            </a:extLst>
          </p:cNvPr>
          <p:cNvSpPr txBox="1"/>
          <p:nvPr/>
        </p:nvSpPr>
        <p:spPr>
          <a:xfrm>
            <a:off x="762000" y="254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No tienen identidad propia: iguales si sus valores son iguales - 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Son inmutables: una vez creados, no cambian -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No tienen ciclo de vida propio: acompañan a entidades -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Encapsulan reglas del dominio, validación e igualdad por valor -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3DFA9A-8D0A-E15D-9FF7-20F16728FC91}"/>
              </a:ext>
            </a:extLst>
          </p:cNvPr>
          <p:cNvSpPr txBox="1"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¿Cuándo usar </a:t>
            </a:r>
            <a:r>
              <a:rPr lang="es-ES" b="1" noProof="0" dirty="0" err="1">
                <a:solidFill>
                  <a:srgbClr val="172554"/>
                </a:solidFill>
              </a:rPr>
              <a:t>Value</a:t>
            </a:r>
            <a:r>
              <a:rPr lang="es-ES" b="1" noProof="0" dirty="0">
                <a:solidFill>
                  <a:srgbClr val="172554"/>
                </a:solidFill>
              </a:rPr>
              <a:t> </a:t>
            </a:r>
            <a:r>
              <a:rPr lang="es-ES" b="1" noProof="0" dirty="0" err="1">
                <a:solidFill>
                  <a:srgbClr val="172554"/>
                </a:solidFill>
              </a:rPr>
              <a:t>Objects</a:t>
            </a:r>
            <a:r>
              <a:rPr lang="es-ES" b="1" noProof="0" dirty="0">
                <a:solidFill>
                  <a:srgbClr val="172554"/>
                </a:solidFill>
              </a:rPr>
              <a:t>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75854B-6460-A5CC-7FDC-FE6F0581C2E0}"/>
              </a:ext>
            </a:extLst>
          </p:cNvPr>
          <p:cNvSpPr txBox="1"/>
          <p:nvPr/>
        </p:nvSpPr>
        <p:spPr>
          <a:xfrm>
            <a:off x="762000" y="501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El dato no necesita identidad propia y se compara por contenido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Debe ser consistente e inmutable y tiene reglas propias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Ejemplos: Email, Precio, Dirección, </a:t>
            </a:r>
            <a:r>
              <a:rPr lang="es-ES" sz="1400" noProof="0" dirty="0" err="1">
                <a:solidFill>
                  <a:srgbClr val="374151"/>
                </a:solidFill>
              </a:rPr>
              <a:t>RangoFechas</a:t>
            </a:r>
            <a:endParaRPr lang="es-ES" sz="1400" noProof="0" dirty="0">
              <a:solidFill>
                <a:srgbClr val="374151"/>
              </a:solidFill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E0679AC-6152-B42B-187F-2F25A8ED3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501900"/>
            <a:ext cx="374904" cy="374904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1176DD9-CA9D-2B77-CF27-282EB09CD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1" y="2853822"/>
            <a:ext cx="256032" cy="256032"/>
          </a:xfrm>
          <a:prstGeom prst="rect">
            <a:avLst/>
          </a:prstGeom>
        </p:spPr>
      </p:pic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B9E3A6A5-5AD2-DEF4-222F-85155A32D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280" y="3083560"/>
            <a:ext cx="345440" cy="345440"/>
          </a:xfrm>
          <a:prstGeom prst="rect">
            <a:avLst/>
          </a:prstGeom>
        </p:spPr>
      </p:pic>
      <p:sp>
        <p:nvSpPr>
          <p:cNvPr id="12" name="Shape 19">
            <a:extLst>
              <a:ext uri="{FF2B5EF4-FFF2-40B4-BE49-F238E27FC236}">
                <a16:creationId xmlns:a16="http://schemas.microsoft.com/office/drawing/2014/main" id="{2BB0BAD3-C9F2-7AED-BE84-B2B5E7209B83}"/>
              </a:ext>
            </a:extLst>
          </p:cNvPr>
          <p:cNvSpPr/>
          <p:nvPr/>
        </p:nvSpPr>
        <p:spPr>
          <a:xfrm>
            <a:off x="6382512" y="3525258"/>
            <a:ext cx="192024" cy="20549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81375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445BE8-C1A3-D2C3-0495-79ED657B31FD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 noProof="0" dirty="0" err="1">
                <a:solidFill>
                  <a:srgbClr val="172554"/>
                </a:solidFill>
              </a:rPr>
              <a:t>Value</a:t>
            </a:r>
            <a:r>
              <a:rPr lang="es-ES" sz="2800" b="1" noProof="0" dirty="0">
                <a:solidFill>
                  <a:srgbClr val="172554"/>
                </a:solidFill>
              </a:rPr>
              <a:t> </a:t>
            </a:r>
            <a:r>
              <a:rPr lang="es-ES" sz="2800" b="1" noProof="0" dirty="0" err="1">
                <a:solidFill>
                  <a:srgbClr val="172554"/>
                </a:solidFill>
              </a:rPr>
              <a:t>Objects</a:t>
            </a:r>
            <a:r>
              <a:rPr lang="es-ES" sz="2800" b="1" noProof="0" dirty="0">
                <a:solidFill>
                  <a:srgbClr val="172554"/>
                </a:solidFill>
              </a:rPr>
              <a:t> vs Propiedades Primitivas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79DD8F-9499-4F93-2E2A-EEF9C64221BA}"/>
              </a:ext>
            </a:extLst>
          </p:cNvPr>
          <p:cNvSpPr/>
          <p:nvPr/>
        </p:nvSpPr>
        <p:spPr>
          <a:xfrm flipV="1">
            <a:off x="762000" y="970280"/>
            <a:ext cx="6754368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9B4A0EF-225B-3929-C447-F174A50E5896}"/>
              </a:ext>
            </a:extLst>
          </p:cNvPr>
          <p:cNvSpPr txBox="1"/>
          <p:nvPr/>
        </p:nvSpPr>
        <p:spPr>
          <a:xfrm>
            <a:off x="762000" y="1206500"/>
            <a:ext cx="508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b="1" noProof="0" dirty="0">
                <a:solidFill>
                  <a:srgbClr val="DC2626"/>
                </a:solidFill>
              </a:rPr>
              <a:t>Propiedades primitivas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640E27-D614-FE67-4AE9-2FF0B7196066}"/>
              </a:ext>
            </a:extLst>
          </p:cNvPr>
          <p:cNvSpPr txBox="1"/>
          <p:nvPr/>
        </p:nvSpPr>
        <p:spPr>
          <a:xfrm>
            <a:off x="762000" y="1651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Validación repartida por todo el código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Puedes tener estados inválidos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El significado del dato se pierde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 err="1">
                <a:solidFill>
                  <a:srgbClr val="374151"/>
                </a:solidFill>
              </a:rPr>
              <a:t>string</a:t>
            </a:r>
            <a:r>
              <a:rPr lang="es-ES" sz="1300" noProof="0" dirty="0">
                <a:solidFill>
                  <a:srgbClr val="374151"/>
                </a:solidFill>
              </a:rPr>
              <a:t> Calle, </a:t>
            </a:r>
            <a:r>
              <a:rPr lang="es-ES" sz="1300" noProof="0" dirty="0" err="1">
                <a:solidFill>
                  <a:srgbClr val="374151"/>
                </a:solidFill>
              </a:rPr>
              <a:t>string</a:t>
            </a:r>
            <a:r>
              <a:rPr lang="es-ES" sz="1300" noProof="0" dirty="0">
                <a:solidFill>
                  <a:srgbClr val="374151"/>
                </a:solidFill>
              </a:rPr>
              <a:t> Ciudad, </a:t>
            </a:r>
            <a:r>
              <a:rPr lang="es-ES" sz="1300" noProof="0" dirty="0" err="1">
                <a:solidFill>
                  <a:srgbClr val="374151"/>
                </a:solidFill>
              </a:rPr>
              <a:t>string</a:t>
            </a:r>
            <a:r>
              <a:rPr lang="es-ES" sz="1300" noProof="0" dirty="0">
                <a:solidFill>
                  <a:srgbClr val="374151"/>
                </a:solidFill>
              </a:rPr>
              <a:t> CP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B2CA98-A849-ED2E-AD6E-8781D5CC3BF0}"/>
              </a:ext>
            </a:extLst>
          </p:cNvPr>
          <p:cNvSpPr txBox="1"/>
          <p:nvPr/>
        </p:nvSpPr>
        <p:spPr>
          <a:xfrm>
            <a:off x="6350000" y="1206500"/>
            <a:ext cx="533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b="1" noProof="0" dirty="0" err="1">
                <a:solidFill>
                  <a:srgbClr val="16A34A"/>
                </a:solidFill>
              </a:rPr>
              <a:t>Value</a:t>
            </a:r>
            <a:r>
              <a:rPr lang="es-ES" sz="1600" b="1" noProof="0" dirty="0">
                <a:solidFill>
                  <a:srgbClr val="16A34A"/>
                </a:solidFill>
              </a:rPr>
              <a:t> </a:t>
            </a:r>
            <a:r>
              <a:rPr lang="es-ES" sz="1600" b="1" noProof="0" dirty="0" err="1">
                <a:solidFill>
                  <a:srgbClr val="16A34A"/>
                </a:solidFill>
              </a:rPr>
              <a:t>Objects</a:t>
            </a:r>
            <a:endParaRPr lang="es-ES" sz="1600" b="1" noProof="0" dirty="0">
              <a:solidFill>
                <a:srgbClr val="16A34A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D8A732A-1B47-5C19-7AED-C72C282FAEA3}"/>
              </a:ext>
            </a:extLst>
          </p:cNvPr>
          <p:cNvSpPr txBox="1"/>
          <p:nvPr/>
        </p:nvSpPr>
        <p:spPr>
          <a:xfrm>
            <a:off x="6350000" y="1651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La validación vive en un solo sitio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La entidad queda más expresiva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Inmutable, reduce efectos secundarios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Igualdad natural por valor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DD9BCA-966C-D40D-0FD8-E3D3B000562A}"/>
              </a:ext>
            </a:extLst>
          </p:cNvPr>
          <p:cNvSpPr txBox="1"/>
          <p:nvPr/>
        </p:nvSpPr>
        <p:spPr>
          <a:xfrm>
            <a:off x="762000" y="3344672"/>
            <a:ext cx="3645408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Integración con EF Core en .NET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C001D5-B77B-F717-41D2-C39374F9184A}"/>
              </a:ext>
            </a:extLst>
          </p:cNvPr>
          <p:cNvSpPr txBox="1"/>
          <p:nvPr/>
        </p:nvSpPr>
        <p:spPr>
          <a:xfrm>
            <a:off x="762000" y="3789172"/>
            <a:ext cx="5510784" cy="87071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Se marcan como </a:t>
            </a:r>
            <a:r>
              <a:rPr lang="es-ES" sz="1300" noProof="0" dirty="0" err="1">
                <a:solidFill>
                  <a:srgbClr val="374151"/>
                </a:solidFill>
              </a:rPr>
              <a:t>owned</a:t>
            </a:r>
            <a:r>
              <a:rPr lang="es-ES" sz="1300" noProof="0" dirty="0">
                <a:solidFill>
                  <a:srgbClr val="374151"/>
                </a:solidFill>
              </a:rPr>
              <a:t> </a:t>
            </a:r>
            <a:r>
              <a:rPr lang="es-ES" sz="1300" noProof="0" dirty="0" err="1">
                <a:solidFill>
                  <a:srgbClr val="374151"/>
                </a:solidFill>
              </a:rPr>
              <a:t>types</a:t>
            </a:r>
            <a:r>
              <a:rPr lang="es-ES" sz="1300" noProof="0" dirty="0">
                <a:solidFill>
                  <a:srgbClr val="374151"/>
                </a:solidFill>
              </a:rPr>
              <a:t> con </a:t>
            </a:r>
            <a:r>
              <a:rPr lang="es-ES" sz="1300" noProof="0" dirty="0" err="1">
                <a:solidFill>
                  <a:srgbClr val="374151"/>
                </a:solidFill>
              </a:rPr>
              <a:t>OwnsOne</a:t>
            </a:r>
            <a:endParaRPr lang="es-ES" sz="1300" noProof="0" dirty="0">
              <a:solidFill>
                <a:srgbClr val="374151"/>
              </a:solidFill>
            </a:endParaRP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Se mapean dentro de la tabla de la entidad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El </a:t>
            </a:r>
            <a:r>
              <a:rPr lang="es-ES" sz="1300" noProof="0" dirty="0" err="1">
                <a:solidFill>
                  <a:srgbClr val="374151"/>
                </a:solidFill>
              </a:rPr>
              <a:t>Value</a:t>
            </a:r>
            <a:r>
              <a:rPr lang="es-ES" sz="1300" noProof="0" dirty="0">
                <a:solidFill>
                  <a:srgbClr val="374151"/>
                </a:solidFill>
              </a:rPr>
              <a:t> </a:t>
            </a:r>
            <a:r>
              <a:rPr lang="es-ES" sz="1300" noProof="0" dirty="0" err="1">
                <a:solidFill>
                  <a:srgbClr val="374151"/>
                </a:solidFill>
              </a:rPr>
              <a:t>Object</a:t>
            </a:r>
            <a:r>
              <a:rPr lang="es-ES" sz="1300" noProof="0" dirty="0">
                <a:solidFill>
                  <a:srgbClr val="374151"/>
                </a:solidFill>
              </a:rPr>
              <a:t> no tiene Id ni tabla independiente</a:t>
            </a: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3B4B55C6-EFC1-9327-D5CD-C12F3FB8B424}"/>
              </a:ext>
            </a:extLst>
          </p:cNvPr>
          <p:cNvSpPr/>
          <p:nvPr/>
        </p:nvSpPr>
        <p:spPr>
          <a:xfrm>
            <a:off x="6729984" y="3298952"/>
            <a:ext cx="4261104" cy="2608072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ES" sz="1000" noProof="0" dirty="0">
              <a:solidFill>
                <a:srgbClr val="F59E0B"/>
              </a:solidFill>
              <a:latin typeface="Consolas" pitchFamily="34" charset="0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2A6B7C6-FA23-1D92-5B6A-F87D78FFCE56}"/>
              </a:ext>
            </a:extLst>
          </p:cNvPr>
          <p:cNvSpPr/>
          <p:nvPr/>
        </p:nvSpPr>
        <p:spPr>
          <a:xfrm>
            <a:off x="7132320" y="3564128"/>
            <a:ext cx="3858768" cy="2324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c.Nombre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IsRequired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HasMaxLength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(100);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i="1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s-ES" sz="1050" i="1" noProof="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s-ES" sz="1050" i="1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ES" sz="1050" i="1" noProof="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s-ES" sz="1050" i="1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Email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</a:t>
            </a:r>
            <a:r>
              <a:rPr lang="es-ES" sz="1050" b="1" noProof="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OwnsOne</a:t>
            </a: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c.Email</a:t>
            </a: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</a:t>
            </a: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{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eb.Property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 =&gt; 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e.Value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</a:t>
            </a:r>
            <a:r>
              <a:rPr lang="es-ES" sz="1050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HasColumnName</a:t>
            </a:r>
            <a:r>
              <a:rPr lang="es-ES" sz="1050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("Email");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i="1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s-ES" sz="1050" i="1" noProof="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s-ES" sz="1050" i="1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ES" sz="1050" i="1" noProof="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s-ES" sz="1050" i="1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s-ES" sz="1050" i="1" noProof="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Direccion</a:t>
            </a:r>
            <a:endParaRPr lang="es-ES" sz="1050" noProof="0" dirty="0"/>
          </a:p>
          <a:p>
            <a:pPr marL="0" indent="0">
              <a:spcAft>
                <a:spcPts val="100"/>
              </a:spcAft>
              <a:buNone/>
            </a:pP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</a:t>
            </a:r>
            <a:r>
              <a:rPr lang="es-ES" sz="1050" b="1" noProof="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OwnsOne</a:t>
            </a: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 =&gt; </a:t>
            </a: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c.Direccion</a:t>
            </a: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s-ES" sz="1050" noProof="0" dirty="0" err="1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s-ES" sz="1050" noProof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{ ... });</a:t>
            </a:r>
            <a:endParaRPr lang="es-ES" sz="1050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7BB754C-8E86-1DF4-E410-E225B2BC652B}"/>
              </a:ext>
            </a:extLst>
          </p:cNvPr>
          <p:cNvSpPr/>
          <p:nvPr/>
        </p:nvSpPr>
        <p:spPr>
          <a:xfrm>
            <a:off x="6912864" y="3334004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ClienteConfiguration.cs</a:t>
            </a:r>
            <a:endParaRPr lang="es-ES" sz="1000" noProof="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4D5F287-3E4D-AFE4-CF3A-317F26F0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32" y="3347983"/>
            <a:ext cx="273041" cy="273041"/>
          </a:xfrm>
          <a:prstGeom prst="rect">
            <a:avLst/>
          </a:prstGeom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781E0735-2469-8FD6-B495-EB6FD838320F}"/>
              </a:ext>
            </a:extLst>
          </p:cNvPr>
          <p:cNvSpPr/>
          <p:nvPr/>
        </p:nvSpPr>
        <p:spPr>
          <a:xfrm>
            <a:off x="838200" y="4932680"/>
            <a:ext cx="2398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b="1" kern="0" spc="3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BD</a:t>
            </a:r>
            <a:endParaRPr lang="es-ES" noProof="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18E1524-F325-17F6-071C-608CFF64973D}"/>
              </a:ext>
            </a:extLst>
          </p:cNvPr>
          <p:cNvSpPr/>
          <p:nvPr/>
        </p:nvSpPr>
        <p:spPr>
          <a:xfrm>
            <a:off x="1106424" y="5306053"/>
            <a:ext cx="3300984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dirty="0">
                <a:solidFill>
                  <a:srgbClr val="374151"/>
                </a:solidFill>
              </a:rPr>
              <a:t>Una sola tabla Clientes con columnas: Nombre, Email, Calle, Ciudad, </a:t>
            </a:r>
            <a:r>
              <a:rPr lang="es-ES" sz="1300" dirty="0" err="1">
                <a:solidFill>
                  <a:srgbClr val="374151"/>
                </a:solidFill>
              </a:rPr>
              <a:t>CodigoPostal</a:t>
            </a:r>
            <a:r>
              <a:rPr lang="es-ES" sz="1300" dirty="0">
                <a:solidFill>
                  <a:srgbClr val="37415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480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0E7182-1BC1-BAA9-BA95-987EFF94A18F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Agregados (</a:t>
            </a:r>
            <a:r>
              <a:rPr lang="es-ES" sz="3000" b="1" noProof="0" dirty="0" err="1">
                <a:solidFill>
                  <a:srgbClr val="172554"/>
                </a:solidFill>
              </a:rPr>
              <a:t>Aggregates</a:t>
            </a:r>
            <a:r>
              <a:rPr lang="es-ES" sz="3000" b="1" noProof="0" dirty="0">
                <a:solidFill>
                  <a:srgbClr val="172554"/>
                </a:solidFill>
              </a:rPr>
              <a:t>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F8612B-3814-82A0-0C03-DE3991A74E78}"/>
              </a:ext>
            </a:extLst>
          </p:cNvPr>
          <p:cNvSpPr/>
          <p:nvPr/>
        </p:nvSpPr>
        <p:spPr>
          <a:xfrm flipV="1">
            <a:off x="762000" y="970281"/>
            <a:ext cx="4376928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35F891-1444-F7CB-A978-E68814BD6C4B}"/>
              </a:ext>
            </a:extLst>
          </p:cNvPr>
          <p:cNvSpPr txBox="1"/>
          <p:nvPr/>
        </p:nvSpPr>
        <p:spPr>
          <a:xfrm>
            <a:off x="762000" y="127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noProof="0" dirty="0">
                <a:solidFill>
                  <a:srgbClr val="374151"/>
                </a:solidFill>
              </a:rPr>
              <a:t>Grupo de entidades y </a:t>
            </a:r>
            <a:r>
              <a:rPr lang="es-ES" sz="1600" noProof="0" dirty="0" err="1">
                <a:solidFill>
                  <a:srgbClr val="374151"/>
                </a:solidFill>
              </a:rPr>
              <a:t>value</a:t>
            </a:r>
            <a:r>
              <a:rPr lang="es-ES" sz="1600" noProof="0" dirty="0">
                <a:solidFill>
                  <a:srgbClr val="374151"/>
                </a:solidFill>
              </a:rPr>
              <a:t> </a:t>
            </a:r>
            <a:r>
              <a:rPr lang="es-ES" sz="1600" noProof="0" dirty="0" err="1">
                <a:solidFill>
                  <a:srgbClr val="374151"/>
                </a:solidFill>
              </a:rPr>
              <a:t>objects</a:t>
            </a:r>
            <a:r>
              <a:rPr lang="es-ES" sz="1600" noProof="0" dirty="0">
                <a:solidFill>
                  <a:srgbClr val="374151"/>
                </a:solidFill>
              </a:rPr>
              <a:t> que deben mantenerse coherentes como una sola unidad, con una raíz de agregado que controla el acceso y las invariantes.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87931E-15CF-DDDF-A3BB-120CA1162CA8}"/>
              </a:ext>
            </a:extLst>
          </p:cNvPr>
          <p:cNvSpPr txBox="1"/>
          <p:nvPr/>
        </p:nvSpPr>
        <p:spPr>
          <a:xfrm>
            <a:off x="762000" y="2222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>
                <a:solidFill>
                  <a:srgbClr val="172554"/>
                </a:solidFill>
              </a:rPr>
              <a:t>La Raíz del Agregado: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F147AD-5310-1277-8D2A-1FDDA5FDDB1B}"/>
              </a:ext>
            </a:extLst>
          </p:cNvPr>
          <p:cNvSpPr txBox="1"/>
          <p:nvPr/>
        </p:nvSpPr>
        <p:spPr>
          <a:xfrm>
            <a:off x="762000" y="266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Es el único objeto que otros objetos externos pueden referenciar directamente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Controla la creación y modificación de los objetos internos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Garantiza que el estado del conjunto siga siendo válido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500" noProof="0" dirty="0">
                <a:solidFill>
                  <a:srgbClr val="374151"/>
                </a:solidFill>
              </a:rPr>
              <a:t>Sirve como frontera transaccional: se guarda y carga como unidad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54857A-67C9-215C-57EF-D757D68063B8}"/>
              </a:ext>
            </a:extLst>
          </p:cNvPr>
          <p:cNvSpPr txBox="1"/>
          <p:nvPr/>
        </p:nvSpPr>
        <p:spPr>
          <a:xfrm>
            <a:off x="762000" y="4762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 b="1" noProof="0" dirty="0">
                <a:solidFill>
                  <a:srgbClr val="172554"/>
                </a:solidFill>
              </a:rPr>
              <a:t>Ejemplo: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CCE3C5-9EED-9DBC-8372-CC06CE78F8ED}"/>
              </a:ext>
            </a:extLst>
          </p:cNvPr>
          <p:cNvSpPr txBox="1"/>
          <p:nvPr/>
        </p:nvSpPr>
        <p:spPr>
          <a:xfrm>
            <a:off x="762000" y="5207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 noProof="0" dirty="0">
                <a:solidFill>
                  <a:srgbClr val="6B7280"/>
                </a:solidFill>
              </a:rPr>
              <a:t>Un Pedido con líneas, dirección de envío y descuentos. Desde fuera se usan métodos como AgregarLinea o CambiarDireccion.</a:t>
            </a:r>
          </a:p>
        </p:txBody>
      </p:sp>
    </p:spTree>
    <p:extLst>
      <p:ext uri="{BB962C8B-B14F-4D97-AF65-F5344CB8AC3E}">
        <p14:creationId xmlns:p14="http://schemas.microsoft.com/office/powerpoint/2010/main" val="1996532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EEC4E5-C84F-ADCA-230D-B82B2F0FD60B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 noProof="0" dirty="0">
                <a:solidFill>
                  <a:srgbClr val="172554"/>
                </a:solidFill>
              </a:rPr>
              <a:t>Servicios de Dominio vs Aplicación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17AD27-340A-17F0-EFE4-E3465E3F2049}"/>
              </a:ext>
            </a:extLst>
          </p:cNvPr>
          <p:cNvSpPr/>
          <p:nvPr/>
        </p:nvSpPr>
        <p:spPr>
          <a:xfrm flipV="1">
            <a:off x="762000" y="950976"/>
            <a:ext cx="5794248" cy="65024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E27366D-8D87-06A2-14E0-58807D555D5C}"/>
              </a:ext>
            </a:extLst>
          </p:cNvPr>
          <p:cNvSpPr/>
          <p:nvPr/>
        </p:nvSpPr>
        <p:spPr>
          <a:xfrm>
            <a:off x="762000" y="1270000"/>
            <a:ext cx="5207000" cy="381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noProof="0" dirty="0">
                <a:solidFill>
                  <a:srgbClr val="FFFFFF"/>
                </a:solidFill>
              </a:rPr>
              <a:t>Servicio de Dominio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8AB3C1-725C-A4E9-FBF3-C5195E567FD2}"/>
              </a:ext>
            </a:extLst>
          </p:cNvPr>
          <p:cNvSpPr txBox="1"/>
          <p:nvPr/>
        </p:nvSpPr>
        <p:spPr>
          <a:xfrm>
            <a:off x="762000" y="1778000"/>
            <a:ext cx="520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Reglas y comportamiento del dominio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Lógica de negocio pura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Normalmente sin estado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Depende de entidades, </a:t>
            </a:r>
            <a:r>
              <a:rPr lang="es-ES" sz="1300" noProof="0" dirty="0" err="1">
                <a:solidFill>
                  <a:srgbClr val="374151"/>
                </a:solidFill>
              </a:rPr>
              <a:t>value</a:t>
            </a:r>
            <a:r>
              <a:rPr lang="es-ES" sz="1300" noProof="0" dirty="0">
                <a:solidFill>
                  <a:srgbClr val="374151"/>
                </a:solidFill>
              </a:rPr>
              <a:t> </a:t>
            </a:r>
            <a:r>
              <a:rPr lang="es-ES" sz="1300" noProof="0" dirty="0" err="1">
                <a:solidFill>
                  <a:srgbClr val="374151"/>
                </a:solidFill>
              </a:rPr>
              <a:t>objects</a:t>
            </a:r>
            <a:endParaRPr lang="es-ES" sz="1300" noProof="0" dirty="0">
              <a:solidFill>
                <a:srgbClr val="374151"/>
              </a:solidFill>
            </a:endParaRP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¿Cómo decide el dominio esto?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Usar cuando la lógica no pertenece a una sola entidad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A0B4F18-8079-9C29-40F2-84643CCD691E}"/>
              </a:ext>
            </a:extLst>
          </p:cNvPr>
          <p:cNvSpPr/>
          <p:nvPr/>
        </p:nvSpPr>
        <p:spPr>
          <a:xfrm>
            <a:off x="6350000" y="1270000"/>
            <a:ext cx="5334000" cy="3810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noProof="0" dirty="0">
                <a:solidFill>
                  <a:srgbClr val="FFFFFF"/>
                </a:solidFill>
              </a:rPr>
              <a:t>Servicio de Aplicación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257043-530F-56EC-E6A2-20EC921095EC}"/>
              </a:ext>
            </a:extLst>
          </p:cNvPr>
          <p:cNvSpPr txBox="1"/>
          <p:nvPr/>
        </p:nvSpPr>
        <p:spPr>
          <a:xfrm>
            <a:off x="6350000" y="1778000"/>
            <a:ext cx="533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Orquestación de un caso de uso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Flujo, coordinación, transacciones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Coordina estado externo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Depende de repositorios, infraestructura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¿Cómo ejecuto este caso de uso?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300" noProof="0" dirty="0">
                <a:solidFill>
                  <a:srgbClr val="374151"/>
                </a:solidFill>
              </a:rPr>
              <a:t>Validaciones de entrada del DTO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CD644A-14A3-641F-2AFC-63C84B9A4B00}"/>
              </a:ext>
            </a:extLst>
          </p:cNvPr>
          <p:cNvSpPr txBox="1"/>
          <p:nvPr/>
        </p:nvSpPr>
        <p:spPr>
          <a:xfrm>
            <a:off x="762000" y="4699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 b="1" noProof="0" dirty="0">
                <a:solidFill>
                  <a:srgbClr val="EA580C"/>
                </a:solidFill>
              </a:rPr>
              <a:t>Si piensas 'esto pertenece al negocio' = Dominio. Si piensas 'es la receta para ejecutar una acción' = Aplicación.</a:t>
            </a:r>
          </a:p>
        </p:txBody>
      </p:sp>
    </p:spTree>
    <p:extLst>
      <p:ext uri="{BB962C8B-B14F-4D97-AF65-F5344CB8AC3E}">
        <p14:creationId xmlns:p14="http://schemas.microsoft.com/office/powerpoint/2010/main" val="236888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B39EC9-04F5-BC57-37C9-F855CB95C09A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Patrones de Diseño en DDD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B338CAC-79C3-2ADE-5B0C-DDA164555B31}"/>
              </a:ext>
            </a:extLst>
          </p:cNvPr>
          <p:cNvSpPr/>
          <p:nvPr/>
        </p:nvSpPr>
        <p:spPr>
          <a:xfrm flipV="1">
            <a:off x="762000" y="970281"/>
            <a:ext cx="4998720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3D4B08-DBED-F1CB-2AAD-555F427892EC}"/>
              </a:ext>
            </a:extLst>
          </p:cNvPr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000" b="1" noProof="0" dirty="0">
                <a:solidFill>
                  <a:srgbClr val="7C3AED"/>
                </a:solidFill>
              </a:rPr>
              <a:t>Query </a:t>
            </a:r>
            <a:r>
              <a:rPr lang="es-ES" sz="2000" b="1" noProof="0" dirty="0" err="1">
                <a:solidFill>
                  <a:srgbClr val="7C3AED"/>
                </a:solidFill>
              </a:rPr>
              <a:t>Object</a:t>
            </a:r>
            <a:endParaRPr lang="es-ES" sz="2000" b="1" noProof="0" dirty="0">
              <a:solidFill>
                <a:srgbClr val="7C3AE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0714F55-F968-6223-7DA9-0981959857F0}"/>
              </a:ext>
            </a:extLst>
          </p:cNvPr>
          <p:cNvSpPr txBox="1"/>
          <p:nvPr/>
        </p:nvSpPr>
        <p:spPr>
          <a:xfrm>
            <a:off x="762000" y="1714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Encapsula una consulta específica de lectura como un objeto reutilizable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El objeto de criterio/consulta vive en la capa de Dominio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En Aplicación solo mapeas tu DTO al Query </a:t>
            </a:r>
            <a:r>
              <a:rPr lang="es-ES" sz="1400" noProof="0" dirty="0" err="1">
                <a:solidFill>
                  <a:srgbClr val="374151"/>
                </a:solidFill>
              </a:rPr>
              <a:t>Object</a:t>
            </a:r>
            <a:endParaRPr lang="es-ES" sz="1400" noProof="0" dirty="0">
              <a:solidFill>
                <a:srgbClr val="37415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55BB5B-107F-76BD-39A2-5513DB73C10B}"/>
              </a:ext>
            </a:extLst>
          </p:cNvPr>
          <p:cNvSpPr txBox="1"/>
          <p:nvPr/>
        </p:nvSpPr>
        <p:spPr>
          <a:xfrm>
            <a:off x="762000" y="3302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000" b="1" noProof="0" dirty="0">
                <a:solidFill>
                  <a:srgbClr val="7C3AED"/>
                </a:solidFill>
              </a:rPr>
              <a:t>Specification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031E4B-34AD-90C4-E5D1-E16FB92C22AA}"/>
              </a:ext>
            </a:extLst>
          </p:cNvPr>
          <p:cNvSpPr txBox="1"/>
          <p:nvPr/>
        </p:nvSpPr>
        <p:spPr>
          <a:xfrm>
            <a:off x="762000" y="3746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Encapsula reglas de negocio o filtros como objetos reutilizables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Sirve para consultas, validaciones y reglas del dominio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Usa expresiones LINQ para funcionar con EF Core sin SQL crudo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Vive en la capa de dominio para mantener reglas puras y expresivas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Evita explosión de mu{00e9}todos en repositorios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Se combina con operadores AND/OR/NOT para reglas complejas</a:t>
            </a:r>
          </a:p>
        </p:txBody>
      </p:sp>
    </p:spTree>
    <p:extLst>
      <p:ext uri="{BB962C8B-B14F-4D97-AF65-F5344CB8AC3E}">
        <p14:creationId xmlns:p14="http://schemas.microsoft.com/office/powerpoint/2010/main" val="231052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8900CC-1156-7F4C-3DAE-D9F92E9C2BCA}"/>
              </a:ext>
            </a:extLst>
          </p:cNvPr>
          <p:cNvSpPr txBox="1"/>
          <p:nvPr/>
        </p:nvSpPr>
        <p:spPr>
          <a:xfrm>
            <a:off x="762000" y="50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ES" sz="3000" b="1" noProof="0" dirty="0">
                <a:solidFill>
                  <a:srgbClr val="FFFFFF"/>
                </a:solidFill>
              </a:rPr>
              <a:t>Resumen - Conceptos Clave de DDD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65040A-D2BF-B5E2-4556-573A2413363A}"/>
              </a:ext>
            </a:extLst>
          </p:cNvPr>
          <p:cNvSpPr/>
          <p:nvPr/>
        </p:nvSpPr>
        <p:spPr>
          <a:xfrm flipV="1">
            <a:off x="2840736" y="1067832"/>
            <a:ext cx="6510528" cy="45719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D42347-148C-5FA6-B088-1683243DEF27}"/>
              </a:ext>
            </a:extLst>
          </p:cNvPr>
          <p:cNvSpPr/>
          <p:nvPr/>
        </p:nvSpPr>
        <p:spPr>
          <a:xfrm>
            <a:off x="762000" y="1397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Lenguaje Ubicuo</a:t>
            </a: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Terminología compartida entre todos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ABF6B4-0062-3967-6D38-2C82EAB96C5F}"/>
              </a:ext>
            </a:extLst>
          </p:cNvPr>
          <p:cNvSpPr/>
          <p:nvPr/>
        </p:nvSpPr>
        <p:spPr>
          <a:xfrm>
            <a:off x="6477000" y="1397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Entidades</a:t>
            </a: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Objetos con identidad única y ciclo de vida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AC7865-94F0-5BD1-B5F0-9C2C5D5EAEAA}"/>
              </a:ext>
            </a:extLst>
          </p:cNvPr>
          <p:cNvSpPr/>
          <p:nvPr/>
        </p:nvSpPr>
        <p:spPr>
          <a:xfrm>
            <a:off x="762000" y="2413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 err="1">
                <a:solidFill>
                  <a:srgbClr val="FFFFFF"/>
                </a:solidFill>
              </a:rPr>
              <a:t>Value</a:t>
            </a:r>
            <a:r>
              <a:rPr lang="es-ES" sz="1500" b="1" noProof="0" dirty="0">
                <a:solidFill>
                  <a:srgbClr val="FFFFFF"/>
                </a:solidFill>
              </a:rPr>
              <a:t> </a:t>
            </a:r>
            <a:r>
              <a:rPr lang="es-ES" sz="1500" b="1" noProof="0" dirty="0" err="1">
                <a:solidFill>
                  <a:srgbClr val="FFFFFF"/>
                </a:solidFill>
              </a:rPr>
              <a:t>Objects</a:t>
            </a:r>
            <a:endParaRPr lang="es-ES" sz="1500" b="1" noProof="0" dirty="0">
              <a:solidFill>
                <a:srgbClr val="FFFFFF"/>
              </a:solidFill>
            </a:endParaRP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Inmutables, definidos por sus valores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355135-72FF-BC92-3FEA-DA1095A58A0C}"/>
              </a:ext>
            </a:extLst>
          </p:cNvPr>
          <p:cNvSpPr/>
          <p:nvPr/>
        </p:nvSpPr>
        <p:spPr>
          <a:xfrm>
            <a:off x="6477000" y="2413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Agregados</a:t>
            </a: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Unidad de consistencia con raíz de acceso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C9303F-2AC4-C290-A89F-56BC1274DCB0}"/>
              </a:ext>
            </a:extLst>
          </p:cNvPr>
          <p:cNvSpPr/>
          <p:nvPr/>
        </p:nvSpPr>
        <p:spPr>
          <a:xfrm>
            <a:off x="762000" y="3429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Servicios de Dominio</a:t>
            </a: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Lógica que no pertenece a una entidad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73AE29E-B76A-ACC9-8304-AF894DD55C1F}"/>
              </a:ext>
            </a:extLst>
          </p:cNvPr>
          <p:cNvSpPr/>
          <p:nvPr/>
        </p:nvSpPr>
        <p:spPr>
          <a:xfrm>
            <a:off x="6477000" y="3429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Servicios de Aplicación</a:t>
            </a: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Orquestación de casos de uso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14DA0D-9485-D71C-148B-751469519E61}"/>
              </a:ext>
            </a:extLst>
          </p:cNvPr>
          <p:cNvSpPr/>
          <p:nvPr/>
        </p:nvSpPr>
        <p:spPr>
          <a:xfrm>
            <a:off x="762000" y="4445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Specification</a:t>
            </a: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Reglas como objetos reutilizables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672640E-9A98-F5F5-3654-F971A5CEA8AB}"/>
              </a:ext>
            </a:extLst>
          </p:cNvPr>
          <p:cNvSpPr/>
          <p:nvPr/>
        </p:nvSpPr>
        <p:spPr>
          <a:xfrm>
            <a:off x="6477000" y="4445000"/>
            <a:ext cx="5334000" cy="825500"/>
          </a:xfrm>
          <a:prstGeom prst="rect">
            <a:avLst/>
          </a:prstGeom>
          <a:solidFill>
            <a:srgbClr val="1E3A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noProof="0" dirty="0">
                <a:solidFill>
                  <a:srgbClr val="FFFFFF"/>
                </a:solidFill>
              </a:rPr>
              <a:t>Query </a:t>
            </a:r>
            <a:r>
              <a:rPr lang="es-ES" sz="1500" b="1" noProof="0" dirty="0" err="1">
                <a:solidFill>
                  <a:srgbClr val="FFFFFF"/>
                </a:solidFill>
              </a:rPr>
              <a:t>Object</a:t>
            </a:r>
            <a:endParaRPr lang="es-ES" sz="1500" b="1" noProof="0" dirty="0">
              <a:solidFill>
                <a:srgbClr val="FFFFFF"/>
              </a:solidFill>
            </a:endParaRPr>
          </a:p>
          <a:p>
            <a:pPr algn="ctr"/>
            <a:r>
              <a:rPr lang="es-ES" sz="1300" b="1" noProof="0" dirty="0">
                <a:solidFill>
                  <a:srgbClr val="93C5FD"/>
                </a:solidFill>
              </a:rPr>
              <a:t>Consultas encapsuladas en objetos</a:t>
            </a:r>
          </a:p>
        </p:txBody>
      </p:sp>
    </p:spTree>
    <p:extLst>
      <p:ext uri="{BB962C8B-B14F-4D97-AF65-F5344CB8AC3E}">
        <p14:creationId xmlns:p14="http://schemas.microsoft.com/office/powerpoint/2010/main" val="331625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175D0-A434-E97B-EEF6-AF8ECC76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CDFF16-201D-ACEC-DF7F-8C2547D181C1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3000" b="1" noProof="0" dirty="0">
                <a:solidFill>
                  <a:srgbClr val="172554"/>
                </a:solidFill>
              </a:rPr>
              <a:t>Referencias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4676474-1D7B-8527-2316-F66BDC9099C2}"/>
              </a:ext>
            </a:extLst>
          </p:cNvPr>
          <p:cNvSpPr/>
          <p:nvPr/>
        </p:nvSpPr>
        <p:spPr>
          <a:xfrm flipV="1">
            <a:off x="762000" y="969264"/>
            <a:ext cx="2328672" cy="46736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6A97AB-DFC1-F63D-1872-8EEE184D6970}"/>
              </a:ext>
            </a:extLst>
          </p:cNvPr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000" b="1" noProof="0" dirty="0">
                <a:solidFill>
                  <a:srgbClr val="7C3AED"/>
                </a:solidFill>
              </a:rPr>
              <a:t>Libros Fundamentales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DBFFFD6-2CDE-D044-79A8-EE767030F4A3}"/>
              </a:ext>
            </a:extLst>
          </p:cNvPr>
          <p:cNvSpPr txBox="1"/>
          <p:nvPr/>
        </p:nvSpPr>
        <p:spPr>
          <a:xfrm>
            <a:off x="762000" y="1714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indent="-285750">
              <a:spcAft>
                <a:spcPts val="600"/>
              </a:spcAft>
              <a:buFontTx/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Evans, E. (2004). Domain-</a:t>
            </a:r>
            <a:r>
              <a:rPr lang="es-ES" sz="1400" noProof="0" dirty="0" err="1">
                <a:solidFill>
                  <a:srgbClr val="374151"/>
                </a:solidFill>
              </a:rPr>
              <a:t>Driven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Design</a:t>
            </a:r>
            <a:r>
              <a:rPr lang="es-ES" sz="1400" noProof="0" dirty="0">
                <a:solidFill>
                  <a:srgbClr val="374151"/>
                </a:solidFill>
              </a:rPr>
              <a:t>: </a:t>
            </a:r>
            <a:r>
              <a:rPr lang="es-ES" sz="1400" noProof="0" dirty="0" err="1">
                <a:solidFill>
                  <a:srgbClr val="374151"/>
                </a:solidFill>
              </a:rPr>
              <a:t>Tackling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Complexity</a:t>
            </a:r>
            <a:r>
              <a:rPr lang="es-ES" sz="1400" noProof="0" dirty="0">
                <a:solidFill>
                  <a:srgbClr val="374151"/>
                </a:solidFill>
              </a:rPr>
              <a:t> in </a:t>
            </a:r>
            <a:r>
              <a:rPr lang="es-ES" sz="1400" noProof="0" dirty="0" err="1">
                <a:solidFill>
                  <a:srgbClr val="374151"/>
                </a:solidFill>
              </a:rPr>
              <a:t>the</a:t>
            </a:r>
            <a:r>
              <a:rPr lang="es-ES" sz="1400" noProof="0" dirty="0">
                <a:solidFill>
                  <a:srgbClr val="374151"/>
                </a:solidFill>
              </a:rPr>
              <a:t> Heart </a:t>
            </a:r>
            <a:r>
              <a:rPr lang="es-ES" sz="1400" noProof="0" dirty="0" err="1">
                <a:solidFill>
                  <a:srgbClr val="374151"/>
                </a:solidFill>
              </a:rPr>
              <a:t>of</a:t>
            </a:r>
            <a:r>
              <a:rPr lang="es-ES" sz="1400" noProof="0" dirty="0">
                <a:solidFill>
                  <a:srgbClr val="374151"/>
                </a:solidFill>
              </a:rPr>
              <a:t> Software. Addison-Wesley. ("el libro azul").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Fowler, M. (2002). </a:t>
            </a:r>
            <a:r>
              <a:rPr lang="es-ES" sz="1400" noProof="0" dirty="0" err="1">
                <a:solidFill>
                  <a:srgbClr val="374151"/>
                </a:solidFill>
              </a:rPr>
              <a:t>Patterns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of</a:t>
            </a:r>
            <a:r>
              <a:rPr lang="es-ES" sz="1400" noProof="0" dirty="0">
                <a:solidFill>
                  <a:srgbClr val="374151"/>
                </a:solidFill>
              </a:rPr>
              <a:t> Enterprise </a:t>
            </a:r>
            <a:r>
              <a:rPr lang="es-ES" sz="1400" noProof="0" dirty="0" err="1">
                <a:solidFill>
                  <a:srgbClr val="374151"/>
                </a:solidFill>
              </a:rPr>
              <a:t>Application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Architecture</a:t>
            </a:r>
            <a:r>
              <a:rPr lang="es-ES" sz="1400" noProof="0" dirty="0">
                <a:solidFill>
                  <a:srgbClr val="374151"/>
                </a:solidFill>
              </a:rPr>
              <a:t>. Addison-Wesley. </a:t>
            </a:r>
          </a:p>
          <a:p>
            <a:pPr indent="-285750">
              <a:spcAft>
                <a:spcPts val="600"/>
              </a:spcAft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Vernon, V. (2013). </a:t>
            </a:r>
            <a:r>
              <a:rPr lang="es-ES" sz="1400" noProof="0" dirty="0" err="1">
                <a:solidFill>
                  <a:srgbClr val="374151"/>
                </a:solidFill>
              </a:rPr>
              <a:t>Implementing</a:t>
            </a:r>
            <a:r>
              <a:rPr lang="es-ES" sz="1400" noProof="0" dirty="0">
                <a:solidFill>
                  <a:srgbClr val="374151"/>
                </a:solidFill>
              </a:rPr>
              <a:t> Domain-</a:t>
            </a:r>
            <a:r>
              <a:rPr lang="es-ES" sz="1400" noProof="0" dirty="0" err="1">
                <a:solidFill>
                  <a:srgbClr val="374151"/>
                </a:solidFill>
              </a:rPr>
              <a:t>Driven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Design</a:t>
            </a:r>
            <a:r>
              <a:rPr lang="es-ES" sz="1400" noProof="0" dirty="0">
                <a:solidFill>
                  <a:srgbClr val="374151"/>
                </a:solidFill>
              </a:rPr>
              <a:t>. Addison-Wesley. ("el libro rojo"). 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8FBC538-2B90-74F8-FC69-6C5A1C9CCF14}"/>
              </a:ext>
            </a:extLst>
          </p:cNvPr>
          <p:cNvSpPr txBox="1"/>
          <p:nvPr/>
        </p:nvSpPr>
        <p:spPr>
          <a:xfrm>
            <a:off x="661416" y="27305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b="1" noProof="0" dirty="0"/>
              <a:t> </a:t>
            </a:r>
            <a:r>
              <a:rPr lang="es-ES" sz="2000" b="1" noProof="0" dirty="0">
                <a:solidFill>
                  <a:srgbClr val="7C3AED"/>
                </a:solidFill>
              </a:rPr>
              <a:t>Recursos Web</a:t>
            </a:r>
          </a:p>
          <a:p>
            <a:endParaRPr lang="es-ES" sz="2000" b="1" noProof="0" dirty="0">
              <a:solidFill>
                <a:srgbClr val="7C3AED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90637D-126B-209A-D5B1-47A7B5F6E1C1}"/>
              </a:ext>
            </a:extLst>
          </p:cNvPr>
          <p:cNvSpPr txBox="1"/>
          <p:nvPr/>
        </p:nvSpPr>
        <p:spPr>
          <a:xfrm>
            <a:off x="661416" y="3180834"/>
            <a:ext cx="10668000" cy="257074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Fowler, M. "</a:t>
            </a:r>
            <a:r>
              <a:rPr lang="es-ES" sz="1400" noProof="0" dirty="0" err="1">
                <a:solidFill>
                  <a:srgbClr val="374151"/>
                </a:solidFill>
              </a:rPr>
              <a:t>ValueObject</a:t>
            </a:r>
            <a:r>
              <a:rPr lang="es-ES" sz="1400" noProof="0" dirty="0">
                <a:solidFill>
                  <a:srgbClr val="374151"/>
                </a:solidFill>
              </a:rPr>
              <a:t>". martinfowler.com. </a:t>
            </a:r>
            <a:r>
              <a:rPr lang="es-ES" sz="1400" noProof="0" dirty="0">
                <a:solidFill>
                  <a:srgbClr val="37415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https://martinfowler.com/bliki/ValueObject.html</a:t>
            </a:r>
            <a:r>
              <a:rPr lang="es-ES" sz="1400" noProof="0" dirty="0">
                <a:solidFill>
                  <a:srgbClr val="374151"/>
                </a:solidFill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Fowler, M. "</a:t>
            </a:r>
            <a:r>
              <a:rPr lang="es-ES" sz="1400" noProof="0" dirty="0" err="1">
                <a:solidFill>
                  <a:srgbClr val="374151"/>
                </a:solidFill>
              </a:rPr>
              <a:t>DDD_Aggregate</a:t>
            </a:r>
            <a:r>
              <a:rPr lang="es-ES" sz="1400" noProof="0" dirty="0">
                <a:solidFill>
                  <a:srgbClr val="374151"/>
                </a:solidFill>
              </a:rPr>
              <a:t>". martinfowler.com. </a:t>
            </a:r>
            <a:r>
              <a:rPr lang="es-ES" sz="1400" noProof="0" dirty="0">
                <a:solidFill>
                  <a:srgbClr val="37415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https://martinfowler.com/bliki/DDD_Aggregate.html</a:t>
            </a:r>
            <a:r>
              <a:rPr lang="es-ES" sz="1400" noProof="0" dirty="0">
                <a:solidFill>
                  <a:srgbClr val="374151"/>
                </a:solidFill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De la Torre, C., Wagner, B. &amp; Rousos, M. .NET </a:t>
            </a:r>
            <a:r>
              <a:rPr lang="es-ES" sz="1400" noProof="0" dirty="0" err="1">
                <a:solidFill>
                  <a:srgbClr val="374151"/>
                </a:solidFill>
              </a:rPr>
              <a:t>Microservices</a:t>
            </a:r>
            <a:r>
              <a:rPr lang="es-ES" sz="1400" noProof="0" dirty="0">
                <a:solidFill>
                  <a:srgbClr val="374151"/>
                </a:solidFill>
              </a:rPr>
              <a:t>: </a:t>
            </a:r>
            <a:r>
              <a:rPr lang="es-ES" sz="1400" noProof="0" dirty="0" err="1">
                <a:solidFill>
                  <a:srgbClr val="374151"/>
                </a:solidFill>
              </a:rPr>
              <a:t>Architecture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for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Containerized</a:t>
            </a:r>
            <a:r>
              <a:rPr lang="es-ES" sz="1400" noProof="0" dirty="0">
                <a:solidFill>
                  <a:srgbClr val="374151"/>
                </a:solidFill>
              </a:rPr>
              <a:t> .NET </a:t>
            </a:r>
            <a:r>
              <a:rPr lang="es-ES" sz="1400" noProof="0" dirty="0" err="1">
                <a:solidFill>
                  <a:srgbClr val="374151"/>
                </a:solidFill>
              </a:rPr>
              <a:t>Applications</a:t>
            </a:r>
            <a:r>
              <a:rPr lang="es-ES" sz="1400" noProof="0" dirty="0">
                <a:solidFill>
                  <a:srgbClr val="374151"/>
                </a:solidFill>
              </a:rPr>
              <a:t>. Microsoft. </a:t>
            </a:r>
            <a:r>
              <a:rPr lang="es-ES" sz="1400" noProof="0" dirty="0">
                <a:solidFill>
                  <a:srgbClr val="37415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https://aka.ms/microservicesebook</a:t>
            </a:r>
            <a:r>
              <a:rPr lang="es-ES" sz="1400" noProof="0" dirty="0">
                <a:solidFill>
                  <a:srgbClr val="374151"/>
                </a:solidFill>
              </a:rPr>
              <a:t> 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Microsoft. "</a:t>
            </a:r>
            <a:r>
              <a:rPr lang="es-ES" sz="1400" noProof="0" dirty="0" err="1">
                <a:solidFill>
                  <a:srgbClr val="374151"/>
                </a:solidFill>
              </a:rPr>
              <a:t>Owned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Entity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Types</a:t>
            </a:r>
            <a:r>
              <a:rPr lang="es-ES" sz="1400" noProof="0" dirty="0">
                <a:solidFill>
                  <a:srgbClr val="374151"/>
                </a:solidFill>
              </a:rPr>
              <a:t> – EF Core". Microsoft Learn. </a:t>
            </a:r>
            <a:r>
              <a:rPr lang="es-ES" sz="1400" noProof="0" dirty="0">
                <a:solidFill>
                  <a:srgbClr val="37415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https://learn.microsoft.com/en-us/ef/core/modeling/owned-entities</a:t>
            </a:r>
            <a:r>
              <a:rPr lang="es-ES" sz="1400" noProof="0" dirty="0">
                <a:solidFill>
                  <a:srgbClr val="374151"/>
                </a:solidFill>
              </a:rPr>
              <a:t>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noProof="0" dirty="0">
                <a:solidFill>
                  <a:srgbClr val="374151"/>
                </a:solidFill>
              </a:rPr>
              <a:t>Khorikov, V. "Domain </a:t>
            </a:r>
            <a:r>
              <a:rPr lang="es-ES" sz="1400" noProof="0" dirty="0" err="1">
                <a:solidFill>
                  <a:srgbClr val="374151"/>
                </a:solidFill>
              </a:rPr>
              <a:t>Services</a:t>
            </a:r>
            <a:r>
              <a:rPr lang="es-ES" sz="1400" noProof="0" dirty="0">
                <a:solidFill>
                  <a:srgbClr val="374151"/>
                </a:solidFill>
              </a:rPr>
              <a:t> vs </a:t>
            </a:r>
            <a:r>
              <a:rPr lang="es-ES" sz="1400" noProof="0" dirty="0" err="1">
                <a:solidFill>
                  <a:srgbClr val="374151"/>
                </a:solidFill>
              </a:rPr>
              <a:t>Application</a:t>
            </a:r>
            <a:r>
              <a:rPr lang="es-ES" sz="1400" noProof="0" dirty="0">
                <a:solidFill>
                  <a:srgbClr val="374151"/>
                </a:solidFill>
              </a:rPr>
              <a:t> </a:t>
            </a:r>
            <a:r>
              <a:rPr lang="es-ES" sz="1400" noProof="0" dirty="0" err="1">
                <a:solidFill>
                  <a:srgbClr val="374151"/>
                </a:solidFill>
              </a:rPr>
              <a:t>Services</a:t>
            </a:r>
            <a:r>
              <a:rPr lang="es-ES" sz="1400" noProof="0" dirty="0">
                <a:solidFill>
                  <a:srgbClr val="374151"/>
                </a:solidFill>
              </a:rPr>
              <a:t>". Enterprise </a:t>
            </a:r>
            <a:r>
              <a:rPr lang="es-ES" sz="1400" noProof="0" dirty="0" err="1">
                <a:solidFill>
                  <a:srgbClr val="374151"/>
                </a:solidFill>
              </a:rPr>
              <a:t>Craftsmanship</a:t>
            </a:r>
            <a:r>
              <a:rPr lang="es-ES" sz="1400" noProof="0" dirty="0">
                <a:solidFill>
                  <a:srgbClr val="374151"/>
                </a:solidFill>
              </a:rPr>
              <a:t>. </a:t>
            </a:r>
            <a:r>
              <a:rPr lang="es-ES" sz="1400" noProof="0" dirty="0">
                <a:solidFill>
                  <a:srgbClr val="37415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https://enterprisecraftsmanship.com/posts/domain-vs-application-services/</a:t>
            </a:r>
            <a:br>
              <a:rPr lang="es-ES" sz="1400" noProof="0" dirty="0"/>
            </a:br>
            <a:endParaRPr lang="es-ES" sz="1400" noProof="0" dirty="0">
              <a:solidFill>
                <a:srgbClr val="37415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C496D5-8E77-F3A0-1EAA-84D3C2F14E15}"/>
              </a:ext>
            </a:extLst>
          </p:cNvPr>
          <p:cNvSpPr txBox="1"/>
          <p:nvPr/>
        </p:nvSpPr>
        <p:spPr>
          <a:xfrm>
            <a:off x="661416" y="5751576"/>
            <a:ext cx="10073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374151"/>
                </a:solidFill>
              </a:rPr>
              <a:t>Código de ejemplo:</a:t>
            </a:r>
            <a:r>
              <a:rPr lang="es-ES" sz="1400" dirty="0">
                <a:solidFill>
                  <a:srgbClr val="374151"/>
                </a:solidFill>
              </a:rPr>
              <a:t> https://github.com/jorge-babel-code/TiendaOnline.git</a:t>
            </a:r>
          </a:p>
        </p:txBody>
      </p:sp>
    </p:spTree>
    <p:extLst>
      <p:ext uri="{BB962C8B-B14F-4D97-AF65-F5344CB8AC3E}">
        <p14:creationId xmlns:p14="http://schemas.microsoft.com/office/powerpoint/2010/main" val="10877747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1319</Words>
  <Application>Microsoft Office PowerPoint</Application>
  <PresentationFormat>Panorámica</PresentationFormat>
  <Paragraphs>154</Paragraphs>
  <Slides>13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Luis García Peña</dc:creator>
  <cp:lastModifiedBy>Jorge Luis García Peña</cp:lastModifiedBy>
  <cp:revision>62</cp:revision>
  <dcterms:created xsi:type="dcterms:W3CDTF">2026-04-21T13:34:55Z</dcterms:created>
  <dcterms:modified xsi:type="dcterms:W3CDTF">2026-04-22T15:10:22Z</dcterms:modified>
</cp:coreProperties>
</file>